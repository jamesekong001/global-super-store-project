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Amount (₦ Millions)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1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</c:dPt>
          <c:dPt>
            <c:idx val="1"/>
            <c:invertIfNegative val="1"/>
            <c:bubble3D val="0"/>
            <c:spPr>
              <a:solidFill>
                <a:schemeClr val="accent2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</c:dPt>
          <c:dPt>
            <c:idx val="2"/>
            <c:invertIfNegative val="1"/>
            <c:bubble3D val="0"/>
            <c:spPr>
              <a:solidFill>
                <a:schemeClr val="accent3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Sales</c:v>
                </c:pt>
                <c:pt idx="1">
                  <c:v>Profit</c:v>
                </c:pt>
                <c:pt idx="2">
                  <c:v>Shipping Cost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12.6</c:v>
                </c:pt>
                <c:pt idx="1">
                  <c:v>1.46</c:v>
                </c:pt>
                <c:pt idx="2">
                  <c:v>1.35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B6-419E-8BE6-B438E34DDD2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Phones</c:v>
                </c:pt>
                <c:pt idx="1">
                  <c:v>Chairs</c:v>
                </c:pt>
                <c:pt idx="2">
                  <c:v>Copiers</c:v>
                </c:pt>
                <c:pt idx="3">
                  <c:v>Storage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08-4EA1-A468-A8A7812FB92E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(₦)</c:v>
                </c:pt>
              </c:strCache>
            </c:strRef>
          </c:tx>
          <c:spPr>
            <a:ln w="25400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dLbls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248940</c:v>
                </c:pt>
                <c:pt idx="1">
                  <c:v>307415</c:v>
                </c:pt>
                <c:pt idx="2">
                  <c:v>406935</c:v>
                </c:pt>
                <c:pt idx="3">
                  <c:v>504165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CE-4516-9669-535A7141A6D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3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118791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</c:chart>
  <c:spPr>
    <a:solidFill>
      <a:schemeClr val="accent1"/>
    </a:solidFill>
    <a:ln w="9525" cap="flat" cmpd="sng" algn="ctr">
      <a:solidFill>
        <a:schemeClr val="lt1">
          <a:lumMod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1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</c:dPt>
          <c:dPt>
            <c:idx val="1"/>
            <c:invertIfNegative val="1"/>
            <c:bubble3D val="0"/>
            <c:spPr>
              <a:solidFill>
                <a:schemeClr val="accent2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</c:dPt>
          <c:dPt>
            <c:idx val="2"/>
            <c:invertIfNegative val="1"/>
            <c:bubble3D val="0"/>
            <c:spPr>
              <a:solidFill>
                <a:schemeClr val="accent3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</c:dPt>
          <c:dPt>
            <c:idx val="3"/>
            <c:invertIfNegative val="1"/>
            <c:bubble3D val="0"/>
            <c:spPr>
              <a:solidFill>
                <a:schemeClr val="accent4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Central</c:v>
                </c:pt>
                <c:pt idx="1">
                  <c:v>North</c:v>
                </c:pt>
                <c:pt idx="2">
                  <c:v>South</c:v>
                </c:pt>
                <c:pt idx="3">
                  <c:v>Caribbean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420000</c:v>
                </c:pt>
                <c:pt idx="1">
                  <c:v>350000</c:v>
                </c:pt>
                <c:pt idx="2">
                  <c:v>300000</c:v>
                </c:pt>
                <c:pt idx="3">
                  <c:v>150000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B5-4426-A4BF-EA8F929323C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Shipping Cost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1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</c:dPt>
          <c:dPt>
            <c:idx val="1"/>
            <c:invertIfNegative val="1"/>
            <c:bubble3D val="0"/>
            <c:spPr>
              <a:solidFill>
                <a:schemeClr val="accent2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</c:dPt>
          <c:dPt>
            <c:idx val="2"/>
            <c:invertIfNegative val="1"/>
            <c:bubble3D val="0"/>
            <c:spPr>
              <a:solidFill>
                <a:schemeClr val="accent3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</c:dPt>
          <c:dPt>
            <c:idx val="3"/>
            <c:invertIfNegative val="1"/>
            <c:bubble3D val="0"/>
            <c:spPr>
              <a:solidFill>
                <a:schemeClr val="accent4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Standard</c:v>
                </c:pt>
                <c:pt idx="1">
                  <c:v>Second</c:v>
                </c:pt>
                <c:pt idx="2">
                  <c:v>First</c:v>
                </c:pt>
                <c:pt idx="3">
                  <c:v>Same Day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600000</c:v>
                </c:pt>
                <c:pt idx="1">
                  <c:v>400000</c:v>
                </c:pt>
                <c:pt idx="2">
                  <c:v>250000</c:v>
                </c:pt>
                <c:pt idx="3">
                  <c:v>100000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98-4F12-B1E9-416AB6C68E3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38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defRPr sz="1197" kern="1200" spc="3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lumMod val="85000"/>
          </a:schemeClr>
        </a:solidFill>
        <a:round/>
      </a:ln>
    </cs:spPr>
    <cs:defRPr sz="1330" kern="1200"/>
  </cs:chartArea>
  <cs:dataLabel>
    <cs:lnRef idx="0"/>
    <cs:fillRef idx="0">
      <cs:styleClr val="0"/>
    </cs:fillRef>
    <cs:effectRef idx="0"/>
    <cs:fontRef idx="minor">
      <a:schemeClr val="lt1"/>
    </cs:fontRef>
    <cs:spPr>
      <a:solidFill>
        <a:schemeClr val="phClr"/>
      </a:solidFill>
    </cs:spPr>
    <cs:defRPr sz="1197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25400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Global Super Store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Executive Business Intelligence Report</a:t>
            </a:r>
          </a:p>
          <a:p>
            <a:r>
              <a:rPr lang="en-US" dirty="0"/>
              <a:t>PREPARED BY : </a:t>
            </a:r>
            <a:r>
              <a:rPr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J</a:t>
            </a:r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AMES EKONG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business performance snapshot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492691"/>
              </p:ext>
            </p:extLst>
          </p:nvPr>
        </p:nvGraphicFramePr>
        <p:xfrm>
          <a:off x="737419" y="2241754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Product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Phones lead revenue generation</a:t>
            </a:r>
          </a:p>
          <a:p>
            <a:pPr lvl="1"/>
            <a:r>
              <a:t>Chairs &amp; Copiers strong contributors</a:t>
            </a:r>
          </a:p>
          <a:p>
            <a:pPr lvl="1"/>
            <a:r>
              <a:t>Storage lowest sales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90221"/>
              </p:ext>
            </p:extLst>
          </p:nvPr>
        </p:nvGraphicFramePr>
        <p:xfrm>
          <a:off x="1061884" y="2998838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Growth (2011–2014)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Consistent year-over-year increase observed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822646"/>
              </p:ext>
            </p:extLst>
          </p:nvPr>
        </p:nvGraphicFramePr>
        <p:xfrm>
          <a:off x="629265" y="2261419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Regional Profit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 region highest contributor</a:t>
            </a:r>
          </a:p>
          <a:p>
            <a:pPr lvl="1"/>
            <a:r>
              <a:t>North &amp; South strong performance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317735"/>
              </p:ext>
            </p:extLst>
          </p:nvPr>
        </p:nvGraphicFramePr>
        <p:xfrm>
          <a:off x="786580" y="27432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D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Shipping Cost by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Class most used</a:t>
            </a:r>
          </a:p>
          <a:p>
            <a:pPr lvl="1"/>
            <a:r>
              <a:t>Opportunity for logistics optimization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438567"/>
              </p:ext>
            </p:extLst>
          </p:nvPr>
        </p:nvGraphicFramePr>
        <p:xfrm>
          <a:off x="609600" y="2651125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 in high-performing products</a:t>
            </a:r>
          </a:p>
          <a:p>
            <a:pPr lvl="1"/>
            <a:r>
              <a:t>Expand in top cities</a:t>
            </a:r>
          </a:p>
          <a:p>
            <a:pPr lvl="1"/>
            <a:r>
              <a:t>Reduce high shipping costs</a:t>
            </a:r>
          </a:p>
          <a:p>
            <a:pPr lvl="1"/>
            <a:r>
              <a:t>Improve low-performing regions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102</Words>
  <Application>Microsoft Office PowerPoint</Application>
  <PresentationFormat>On-screen Show (4:3)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Global Super Store Analysis Dashboard</vt:lpstr>
      <vt:lpstr>Key Performance Indicators</vt:lpstr>
      <vt:lpstr>Sales by Product Category</vt:lpstr>
      <vt:lpstr>Profit Growth (2011–2014)</vt:lpstr>
      <vt:lpstr>Regional Profit Performance</vt:lpstr>
      <vt:lpstr>Shipping Cost by Mode</vt:lpstr>
      <vt:lpstr>Strategic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JAMES EKONG</dc:creator>
  <cp:keywords/>
  <dc:description>generated using python-pptx</dc:description>
  <cp:lastModifiedBy>JAMES EKONG</cp:lastModifiedBy>
  <cp:revision>2</cp:revision>
  <dcterms:created xsi:type="dcterms:W3CDTF">2013-01-27T09:14:16Z</dcterms:created>
  <dcterms:modified xsi:type="dcterms:W3CDTF">2026-02-07T20:25:46Z</dcterms:modified>
  <cp:category/>
</cp:coreProperties>
</file>